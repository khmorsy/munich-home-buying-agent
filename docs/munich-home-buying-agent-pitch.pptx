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dea" id="{38f43964-32bf-8be6-c5dc-f31ef525a4c4}">
          <p14:sldIdLst>
            <p14:sldId id="256"/>
          </p14:sldIdLst>
        </p14:section>
        <p14:section name="How it works" id="{944f483e-d1aa-bbbc-252c-5fcf0278c2b4}">
          <p14:sldIdLst>
            <p14:sldId id="257"/>
          </p14:sldIdLst>
        </p14:section>
        <p14:section name="LangSmith" id="{27a932f4-e7f6-80e5-14ab-9952ed7f5428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Buying a flat in Munich means weeks of refreshing portals, redoing the same mortgage math and forgetting which listings you already rejected. Our agent does the hunting for you: it interviews you once, then scans the market every day, sends each new listing to three specialist subagents, ranks them with a fixed formula and remembers everything. Four hackathon angles: it doesn’t forget, it acts safely, it uses reusable skills, and we prove it works with LangSmith.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orchestrator is a LangChain Deep Agent. It interviews the buyer and saves a profile, searches the portals with Tavily, and skips anything it has seen. Each new listing goes to three subagents running on a smaller model: financial builds a German mortgage plan with Bavarian side costs, valuation estimates fair value and renovation cost from comparable sales, and negotiation sets a target price with arguments. The numbers come from deterministic tools, and ranking is plain code, so the LLM explains results instead of inventing them. Contacting an owner or booking a viewing stops at a human-approval interrupt. Memory lives in the LangGraph Store, and the daily scan sends a Telegram alert when a price drops.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LangSmith is how we prove the agent behaves, not just that it answers. Tracing: every run, including each subagent task and every approval interrupt, is a trace you can open, filtered by scenario and user id. Evals: a dataset of five buyer profiles. Each one runs the full journey, and the evaluators check the steps: the three subagents ran before ranking, nothing was sent without approval, no listing was repeated, the price drop triggered a rerank and an alert, and the reported monthly payment matches our deterministic mortgage plan within one percent. Deployment: the agent is served from LangSmith Deployment and a cron runs the daily scan every morning. Fill in the scores from the latest LangSmith experiment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1"/>
                </a:solidFill>
              </a:rPr>
              <a:t>LANGCHAIN × DATA REPLY HACKATHON · MUNICH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2148840"/>
            <a:ext cx="89611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Munich Home-Buying Agent  ·  LangChain × Data Reply Hackathon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09728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Munich Home-Buying Agent</a:t>
            </a:r>
            <a:endParaRPr lang="en-US" sz="5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214884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A long-running Deep Agent that interviews the buyer, evaluates every listing like a team of experts, and never forgets what it has already shown them.</a:t>
            </a:r>
            <a:endParaRPr lang="en-US" sz="2000" dirty="0"/>
          </a:p>
        </p:txBody>
      </p:sp>
      <p:sp>
        <p:nvSpPr>
          <p:cNvPr id="4" name="Don’t forget card"/>
          <p:cNvSpPr/>
          <p:nvPr/>
        </p:nvSpPr>
        <p:spPr>
          <a:xfrm>
            <a:off x="731520" y="3474720"/>
            <a:ext cx="25374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5" name="Don’t forget badge"/>
          <p:cNvSpPr/>
          <p:nvPr/>
        </p:nvSpPr>
        <p:spPr>
          <a:xfrm>
            <a:off x="100584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Don’t forget icon" descr="Don’t fo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7514" y="3880714"/>
            <a:ext cx="285293" cy="285293"/>
          </a:xfrm>
          <a:prstGeom prst="rect">
            <a:avLst/>
          </a:prstGeom>
        </p:spPr>
      </p:pic>
      <p:sp>
        <p:nvSpPr>
          <p:cNvPr id="7" name="Don’t forget title"/>
          <p:cNvSpPr txBox="1"/>
          <p:nvPr/>
        </p:nvSpPr>
        <p:spPr>
          <a:xfrm>
            <a:off x="1005840" y="4434840"/>
            <a:ext cx="1988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Don’t forget</a:t>
            </a:r>
            <a:endParaRPr lang="en-US" sz="1800" dirty="0"/>
          </a:p>
        </p:txBody>
      </p:sp>
      <p:sp>
        <p:nvSpPr>
          <p:cNvPr id="8" name="Don’t forget text"/>
          <p:cNvSpPr txBox="1"/>
          <p:nvPr/>
        </p:nvSpPr>
        <p:spPr>
          <a:xfrm>
            <a:off x="1005840" y="4800600"/>
            <a:ext cx="1988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Long-term memory: seen listings, price history and pipeline status live outside the chat.</a:t>
            </a:r>
            <a:endParaRPr lang="en-US" sz="1400" dirty="0"/>
          </a:p>
        </p:txBody>
      </p:sp>
      <p:sp>
        <p:nvSpPr>
          <p:cNvPr id="9" name="Act safely card"/>
          <p:cNvSpPr/>
          <p:nvPr/>
        </p:nvSpPr>
        <p:spPr>
          <a:xfrm>
            <a:off x="3451860" y="3474720"/>
            <a:ext cx="25374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0" name="Act safely badge"/>
          <p:cNvSpPr/>
          <p:nvPr/>
        </p:nvSpPr>
        <p:spPr>
          <a:xfrm>
            <a:off x="372618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Act safely icon" descr="Act safel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854" y="3880714"/>
            <a:ext cx="285293" cy="285293"/>
          </a:xfrm>
          <a:prstGeom prst="rect">
            <a:avLst/>
          </a:prstGeom>
        </p:spPr>
      </p:pic>
      <p:sp>
        <p:nvSpPr>
          <p:cNvPr id="12" name="Act safely title"/>
          <p:cNvSpPr txBox="1"/>
          <p:nvPr/>
        </p:nvSpPr>
        <p:spPr>
          <a:xfrm>
            <a:off x="3726180" y="4434840"/>
            <a:ext cx="1988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 safely</a:t>
            </a:r>
            <a:endParaRPr lang="en-US" sz="1800" dirty="0"/>
          </a:p>
        </p:txBody>
      </p:sp>
      <p:sp>
        <p:nvSpPr>
          <p:cNvPr id="13" name="Act safely text"/>
          <p:cNvSpPr txBox="1"/>
          <p:nvPr/>
        </p:nvSpPr>
        <p:spPr>
          <a:xfrm>
            <a:off x="3726180" y="4800600"/>
            <a:ext cx="1988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Human approval before messaging an owner or booking a viewing.</a:t>
            </a:r>
            <a:endParaRPr lang="en-US" sz="1400" dirty="0"/>
          </a:p>
        </p:txBody>
      </p:sp>
      <p:sp>
        <p:nvSpPr>
          <p:cNvPr id="14" name="New skills card"/>
          <p:cNvSpPr/>
          <p:nvPr/>
        </p:nvSpPr>
        <p:spPr>
          <a:xfrm>
            <a:off x="6172200" y="3474720"/>
            <a:ext cx="25374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5" name="New skills badge"/>
          <p:cNvSpPr/>
          <p:nvPr/>
        </p:nvSpPr>
        <p:spPr>
          <a:xfrm>
            <a:off x="644652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New skills icon" descr="New skil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194" y="3880714"/>
            <a:ext cx="285293" cy="285293"/>
          </a:xfrm>
          <a:prstGeom prst="rect">
            <a:avLst/>
          </a:prstGeom>
        </p:spPr>
      </p:pic>
      <p:sp>
        <p:nvSpPr>
          <p:cNvPr id="17" name="New skills title"/>
          <p:cNvSpPr txBox="1"/>
          <p:nvPr/>
        </p:nvSpPr>
        <p:spPr>
          <a:xfrm>
            <a:off x="6446520" y="4434840"/>
            <a:ext cx="1988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New skills</a:t>
            </a:r>
            <a:endParaRPr lang="en-US" sz="1800" dirty="0"/>
          </a:p>
        </p:txBody>
      </p:sp>
      <p:sp>
        <p:nvSpPr>
          <p:cNvPr id="18" name="New skills text"/>
          <p:cNvSpPr txBox="1"/>
          <p:nvPr/>
        </p:nvSpPr>
        <p:spPr>
          <a:xfrm>
            <a:off x="6446520" y="4800600"/>
            <a:ext cx="1988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SKILL.md skills for mortgage plan, renovation estimate and negotiation brief.</a:t>
            </a:r>
            <a:endParaRPr lang="en-US" sz="1400" dirty="0"/>
          </a:p>
        </p:txBody>
      </p:sp>
      <p:sp>
        <p:nvSpPr>
          <p:cNvPr id="19" name="Prove it works card"/>
          <p:cNvSpPr/>
          <p:nvPr/>
        </p:nvSpPr>
        <p:spPr>
          <a:xfrm>
            <a:off x="8892540" y="3474720"/>
            <a:ext cx="2537460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20" name="Prove it works badge"/>
          <p:cNvSpPr/>
          <p:nvPr/>
        </p:nvSpPr>
        <p:spPr>
          <a:xfrm>
            <a:off x="9166860" y="37490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Prove it works icon" descr="Prove it work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8534" y="3880714"/>
            <a:ext cx="285293" cy="285293"/>
          </a:xfrm>
          <a:prstGeom prst="rect">
            <a:avLst/>
          </a:prstGeom>
        </p:spPr>
      </p:pic>
      <p:sp>
        <p:nvSpPr>
          <p:cNvPr id="22" name="Prove it works title"/>
          <p:cNvSpPr txBox="1"/>
          <p:nvPr/>
        </p:nvSpPr>
        <p:spPr>
          <a:xfrm>
            <a:off x="9166860" y="4434840"/>
            <a:ext cx="19888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Prove it works</a:t>
            </a:r>
            <a:endParaRPr lang="en-US" sz="1800" dirty="0"/>
          </a:p>
        </p:txBody>
      </p:sp>
      <p:sp>
        <p:nvSpPr>
          <p:cNvPr id="23" name="Prove it works text"/>
          <p:cNvSpPr txBox="1"/>
          <p:nvPr/>
        </p:nvSpPr>
        <p:spPr>
          <a:xfrm>
            <a:off x="9166860" y="4800600"/>
            <a:ext cx="19888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LangSmith evals score the agent’s steps, not just its final answer.</a:t>
            </a:r>
            <a:endParaRPr lang="en-US" sz="1400" dirty="0"/>
          </a:p>
        </p:txBody>
      </p:sp>
      <p:sp>
        <p:nvSpPr>
          <p:cNvPr id="24" name="team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Team: KhMorsy · shima78 · justKMM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it works</a:t>
            </a:r>
            <a:endParaRPr lang="en-US" sz="3600" dirty="0"/>
          </a:p>
        </p:txBody>
      </p:sp>
      <p:sp>
        <p:nvSpPr>
          <p:cNvPr id="3" name="Interview step"/>
          <p:cNvSpPr/>
          <p:nvPr/>
        </p:nvSpPr>
        <p:spPr>
          <a:xfrm>
            <a:off x="731520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4" name="Interview number"/>
          <p:cNvSpPr txBox="1"/>
          <p:nvPr/>
        </p:nvSpPr>
        <p:spPr>
          <a:xfrm>
            <a:off x="96012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Interview title"/>
          <p:cNvSpPr txBox="1"/>
          <p:nvPr/>
        </p:nvSpPr>
        <p:spPr>
          <a:xfrm>
            <a:off x="96012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Interview</a:t>
            </a:r>
            <a:endParaRPr lang="en-US" sz="1800" dirty="0"/>
          </a:p>
        </p:txBody>
      </p:sp>
      <p:sp>
        <p:nvSpPr>
          <p:cNvPr id="6" name="Interview text"/>
          <p:cNvSpPr txBox="1"/>
          <p:nvPr/>
        </p:nvSpPr>
        <p:spPr>
          <a:xfrm>
            <a:off x="960120" y="26517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Budget, equity, monthly max and districts become a saved profile.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 rot="5400000">
            <a:off x="2724912" y="2752344"/>
            <a:ext cx="128016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8" name="Search step"/>
          <p:cNvSpPr/>
          <p:nvPr/>
        </p:nvSpPr>
        <p:spPr>
          <a:xfrm>
            <a:off x="2926080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9" name="Search number"/>
          <p:cNvSpPr txBox="1"/>
          <p:nvPr/>
        </p:nvSpPr>
        <p:spPr>
          <a:xfrm>
            <a:off x="315468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Search title"/>
          <p:cNvSpPr txBox="1"/>
          <p:nvPr/>
        </p:nvSpPr>
        <p:spPr>
          <a:xfrm>
            <a:off x="315468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Search</a:t>
            </a:r>
            <a:endParaRPr lang="en-US" sz="1800" dirty="0"/>
          </a:p>
        </p:txBody>
      </p:sp>
      <p:sp>
        <p:nvSpPr>
          <p:cNvPr id="11" name="Search text"/>
          <p:cNvSpPr txBox="1"/>
          <p:nvPr/>
        </p:nvSpPr>
        <p:spPr>
          <a:xfrm>
            <a:off x="3154680" y="26517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Tavily on ImmoScout24, Immowelt and Kleinanzeigen; seen listings are skipped.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 rot="5400000">
            <a:off x="4919472" y="2752344"/>
            <a:ext cx="128016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13" name="Evaluate step"/>
          <p:cNvSpPr/>
          <p:nvPr/>
        </p:nvSpPr>
        <p:spPr>
          <a:xfrm>
            <a:off x="5120640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14" name="Evaluate number"/>
          <p:cNvSpPr txBox="1"/>
          <p:nvPr/>
        </p:nvSpPr>
        <p:spPr>
          <a:xfrm>
            <a:off x="534924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Evaluate title"/>
          <p:cNvSpPr txBox="1"/>
          <p:nvPr/>
        </p:nvSpPr>
        <p:spPr>
          <a:xfrm>
            <a:off x="534924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Evaluate</a:t>
            </a:r>
            <a:endParaRPr lang="en-US" sz="1800" dirty="0"/>
          </a:p>
        </p:txBody>
      </p:sp>
      <p:sp>
        <p:nvSpPr>
          <p:cNvPr id="16" name="Financial subagent"/>
          <p:cNvSpPr txBox="1"/>
          <p:nvPr/>
        </p:nvSpPr>
        <p:spPr>
          <a:xfrm>
            <a:off x="5303520" y="2651760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chemeClr val="accent3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</a:rPr>
              <a:t>Financial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5D5B"/>
                </a:solidFill>
              </a:rPr>
              <a:t>mortgage plan</a:t>
            </a:r>
            <a:endParaRPr lang="en-US" sz="1200" dirty="0"/>
          </a:p>
        </p:txBody>
      </p:sp>
      <p:sp>
        <p:nvSpPr>
          <p:cNvPr id="17" name="Valuation subagent"/>
          <p:cNvSpPr txBox="1"/>
          <p:nvPr/>
        </p:nvSpPr>
        <p:spPr>
          <a:xfrm>
            <a:off x="5303520" y="3145536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chemeClr val="accent3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</a:rPr>
              <a:t>Valuation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5D5B"/>
                </a:solidFill>
              </a:rPr>
              <a:t>fair value + renovation</a:t>
            </a:r>
            <a:endParaRPr lang="en-US" sz="1200" dirty="0"/>
          </a:p>
        </p:txBody>
      </p:sp>
      <p:sp>
        <p:nvSpPr>
          <p:cNvPr id="18" name="Negotiation subagent"/>
          <p:cNvSpPr txBox="1"/>
          <p:nvPr/>
        </p:nvSpPr>
        <p:spPr>
          <a:xfrm>
            <a:off x="5303520" y="3639312"/>
            <a:ext cx="155448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chemeClr val="accent3"/>
            </a:solidFill>
          </a:ln>
        </p:spPr>
        <p:txBody>
          <a:bodyPr wrap="square" lIns="25400" tIns="76200" rIns="76200" bIns="254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B2A"/>
                </a:solidFill>
              </a:rPr>
              <a:t>Negotiation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F5D5B"/>
                </a:solidFill>
              </a:rPr>
              <a:t>comps + target price</a:t>
            </a:r>
            <a:endParaRPr lang="en-US" sz="1200" dirty="0"/>
          </a:p>
        </p:txBody>
      </p:sp>
      <p:sp>
        <p:nvSpPr>
          <p:cNvPr id="19" name="arrow 3"/>
          <p:cNvSpPr/>
          <p:nvPr/>
        </p:nvSpPr>
        <p:spPr>
          <a:xfrm rot="5400000">
            <a:off x="7114032" y="2752344"/>
            <a:ext cx="128016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20" name="Rank step"/>
          <p:cNvSpPr/>
          <p:nvPr/>
        </p:nvSpPr>
        <p:spPr>
          <a:xfrm>
            <a:off x="7315200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1" name="Rank number"/>
          <p:cNvSpPr txBox="1"/>
          <p:nvPr/>
        </p:nvSpPr>
        <p:spPr>
          <a:xfrm>
            <a:off x="754380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Rank title"/>
          <p:cNvSpPr txBox="1"/>
          <p:nvPr/>
        </p:nvSpPr>
        <p:spPr>
          <a:xfrm>
            <a:off x="754380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Rank</a:t>
            </a:r>
            <a:endParaRPr lang="en-US" sz="1800" dirty="0"/>
          </a:p>
        </p:txBody>
      </p:sp>
      <p:sp>
        <p:nvSpPr>
          <p:cNvPr id="23" name="Rank text"/>
          <p:cNvSpPr txBox="1"/>
          <p:nvPr/>
        </p:nvSpPr>
        <p:spPr>
          <a:xfrm>
            <a:off x="7543800" y="26517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Plain code: 40% price vs market, 35% affordability, 25% fit.</a:t>
            </a:r>
            <a:endParaRPr lang="en-US" sz="1400" dirty="0"/>
          </a:p>
        </p:txBody>
      </p:sp>
      <p:sp>
        <p:nvSpPr>
          <p:cNvPr id="24" name="arrow 4"/>
          <p:cNvSpPr/>
          <p:nvPr/>
        </p:nvSpPr>
        <p:spPr>
          <a:xfrm rot="5400000">
            <a:off x="9308592" y="2752344"/>
            <a:ext cx="128016" cy="164592"/>
          </a:xfrm>
          <a:prstGeom prst="triangle">
            <a:avLst/>
          </a:prstGeom>
          <a:solidFill>
            <a:schemeClr val="accent1"/>
          </a:solidFill>
          <a:ln/>
        </p:spPr>
      </p:sp>
      <p:sp>
        <p:nvSpPr>
          <p:cNvPr id="25" name="Act step"/>
          <p:cNvSpPr/>
          <p:nvPr/>
        </p:nvSpPr>
        <p:spPr>
          <a:xfrm>
            <a:off x="9509760" y="146304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</p:sp>
      <p:sp>
        <p:nvSpPr>
          <p:cNvPr id="26" name="Act number"/>
          <p:cNvSpPr txBox="1"/>
          <p:nvPr/>
        </p:nvSpPr>
        <p:spPr>
          <a:xfrm>
            <a:off x="9738360" y="1691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Act title"/>
          <p:cNvSpPr txBox="1"/>
          <p:nvPr/>
        </p:nvSpPr>
        <p:spPr>
          <a:xfrm>
            <a:off x="9738360" y="22860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Act</a:t>
            </a:r>
            <a:endParaRPr lang="en-US" sz="1800" dirty="0"/>
          </a:p>
        </p:txBody>
      </p:sp>
      <p:sp>
        <p:nvSpPr>
          <p:cNvPr id="28" name="Act text"/>
          <p:cNvSpPr txBox="1"/>
          <p:nvPr/>
        </p:nvSpPr>
        <p:spPr>
          <a:xfrm>
            <a:off x="9738360" y="2651760"/>
            <a:ext cx="1463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Message the owner and book a viewing, only after human approval.</a:t>
            </a:r>
            <a:endParaRPr lang="en-US" sz="1400" dirty="0"/>
          </a:p>
        </p:txBody>
      </p:sp>
      <p:sp>
        <p:nvSpPr>
          <p:cNvPr id="29" name="Memory that outlives the chat card"/>
          <p:cNvSpPr/>
          <p:nvPr/>
        </p:nvSpPr>
        <p:spPr>
          <a:xfrm>
            <a:off x="731520" y="4434840"/>
            <a:ext cx="52578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0" name="Memory that outlives the chat badge"/>
          <p:cNvSpPr/>
          <p:nvPr/>
        </p:nvSpPr>
        <p:spPr>
          <a:xfrm>
            <a:off x="100584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Memory that outlives the chat icon" descr="Memory that outlives the cha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4818888"/>
            <a:ext cx="237744" cy="237744"/>
          </a:xfrm>
          <a:prstGeom prst="rect">
            <a:avLst/>
          </a:prstGeom>
        </p:spPr>
      </p:pic>
      <p:sp>
        <p:nvSpPr>
          <p:cNvPr id="32" name="Memory that outlives the chat title"/>
          <p:cNvSpPr txBox="1"/>
          <p:nvPr/>
        </p:nvSpPr>
        <p:spPr>
          <a:xfrm>
            <a:off x="1645920" y="47091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Memory that outlives the chat</a:t>
            </a:r>
            <a:endParaRPr lang="en-US" sz="1800" dirty="0"/>
          </a:p>
        </p:txBody>
      </p:sp>
      <p:sp>
        <p:nvSpPr>
          <p:cNvPr id="33" name="Memory that outlives the chat text"/>
          <p:cNvSpPr txBox="1"/>
          <p:nvPr/>
        </p:nvSpPr>
        <p:spPr>
          <a:xfrm>
            <a:off x="1645920" y="52120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LangGraph Store keeps the profile, each listing’s price history and status, and a log per daily run. No listing is suggested twice unless its price changes.</a:t>
            </a:r>
            <a:endParaRPr lang="en-US" sz="1400" dirty="0"/>
          </a:p>
        </p:txBody>
      </p:sp>
      <p:sp>
        <p:nvSpPr>
          <p:cNvPr id="34" name="Daily scan and price-drop alerts card"/>
          <p:cNvSpPr/>
          <p:nvPr/>
        </p:nvSpPr>
        <p:spPr>
          <a:xfrm>
            <a:off x="6172200" y="4434840"/>
            <a:ext cx="525780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</p:sp>
      <p:sp>
        <p:nvSpPr>
          <p:cNvPr id="35" name="Daily scan and price-drop alerts badge"/>
          <p:cNvSpPr/>
          <p:nvPr/>
        </p:nvSpPr>
        <p:spPr>
          <a:xfrm>
            <a:off x="6446520" y="4709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6" name="Daily scan and price-drop alerts icon" descr="Daily scan and price-drop ale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4818888"/>
            <a:ext cx="237744" cy="237744"/>
          </a:xfrm>
          <a:prstGeom prst="rect">
            <a:avLst/>
          </a:prstGeom>
        </p:spPr>
      </p:pic>
      <p:sp>
        <p:nvSpPr>
          <p:cNvPr id="37" name="Daily scan and price-drop alerts title"/>
          <p:cNvSpPr txBox="1"/>
          <p:nvPr/>
        </p:nvSpPr>
        <p:spPr>
          <a:xfrm>
            <a:off x="7086600" y="47091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Daily scan and price-drop alerts</a:t>
            </a:r>
            <a:endParaRPr lang="en-US" sz="1800" dirty="0"/>
          </a:p>
        </p:txBody>
      </p:sp>
      <p:sp>
        <p:nvSpPr>
          <p:cNvPr id="38" name="Daily scan and price-drop alerts text"/>
          <p:cNvSpPr txBox="1"/>
          <p:nvPr/>
        </p:nvSpPr>
        <p:spPr>
          <a:xfrm>
            <a:off x="7086600" y="5212080"/>
            <a:ext cx="4069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cron runs daily_scan. A price change reruns finance, reranks and pings Telegram: </a:t>
            </a:r>
            <a:pPr indent="0" marL="0">
              <a:buNone/>
            </a:pPr>
            <a:r>
              <a:rPr lang="en-US" sz="1400" i="1" dirty="0">
                <a:solidFill>
                  <a:srgbClr val="1C2B2A"/>
                </a:solidFill>
              </a:rPr>
              <a:t>“Price drop EUR 100,000 on …, now rank #5 (was #9)”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How we used LangSmith</a:t>
            </a:r>
            <a:endParaRPr lang="en-US" sz="3600" dirty="0"/>
          </a:p>
        </p:txBody>
      </p:sp>
      <p:sp>
        <p:nvSpPr>
          <p:cNvPr id="3" name="Tracing card"/>
          <p:cNvSpPr/>
          <p:nvPr/>
        </p:nvSpPr>
        <p:spPr>
          <a:xfrm>
            <a:off x="731520" y="150876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4" name="Tracing badge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racing icon" descr="Trac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1847088"/>
            <a:ext cx="237744" cy="237744"/>
          </a:xfrm>
          <a:prstGeom prst="rect">
            <a:avLst/>
          </a:prstGeom>
        </p:spPr>
      </p:pic>
      <p:sp>
        <p:nvSpPr>
          <p:cNvPr id="6" name="Tracing title"/>
          <p:cNvSpPr txBox="1"/>
          <p:nvPr/>
        </p:nvSpPr>
        <p:spPr>
          <a:xfrm>
            <a:off x="1600200" y="1737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Tracing</a:t>
            </a:r>
            <a:endParaRPr lang="en-US" sz="1800" dirty="0"/>
          </a:p>
        </p:txBody>
      </p:sp>
      <p:sp>
        <p:nvSpPr>
          <p:cNvPr id="7" name="Tracing text"/>
          <p:cNvSpPr txBox="1"/>
          <p:nvPr/>
        </p:nvSpPr>
        <p:spPr>
          <a:xfrm>
            <a:off x="1600200" y="213055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Every model call, tool call, subagent task and approval interrupt is one trace, tagged by scenario and user_id.</a:t>
            </a:r>
            <a:endParaRPr lang="en-US" sz="1400" dirty="0"/>
          </a:p>
        </p:txBody>
      </p:sp>
      <p:sp>
        <p:nvSpPr>
          <p:cNvPr id="8" name="Evals card"/>
          <p:cNvSpPr/>
          <p:nvPr/>
        </p:nvSpPr>
        <p:spPr>
          <a:xfrm>
            <a:off x="731520" y="301752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9" name="Evals badge"/>
          <p:cNvSpPr/>
          <p:nvPr/>
        </p:nvSpPr>
        <p:spPr>
          <a:xfrm>
            <a:off x="960120" y="32461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Evals icon" descr="Eval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3355848"/>
            <a:ext cx="237744" cy="237744"/>
          </a:xfrm>
          <a:prstGeom prst="rect">
            <a:avLst/>
          </a:prstGeom>
        </p:spPr>
      </p:pic>
      <p:sp>
        <p:nvSpPr>
          <p:cNvPr id="11" name="Evals title"/>
          <p:cNvSpPr txBox="1"/>
          <p:nvPr/>
        </p:nvSpPr>
        <p:spPr>
          <a:xfrm>
            <a:off x="1600200" y="32461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Evals</a:t>
            </a:r>
            <a:endParaRPr lang="en-US" sz="1800" dirty="0"/>
          </a:p>
        </p:txBody>
      </p:sp>
      <p:sp>
        <p:nvSpPr>
          <p:cNvPr id="12" name="Evals text"/>
          <p:cNvSpPr txBox="1"/>
          <p:nvPr/>
        </p:nvSpPr>
        <p:spPr>
          <a:xfrm>
            <a:off x="1600200" y="36393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dataset of 5 buyer profiles, each run end to end: interview, scan, rescan and a simulated price drop.</a:t>
            </a:r>
            <a:endParaRPr lang="en-US" sz="1400" dirty="0"/>
          </a:p>
        </p:txBody>
      </p:sp>
      <p:sp>
        <p:nvSpPr>
          <p:cNvPr id="13" name="Deployment card"/>
          <p:cNvSpPr/>
          <p:nvPr/>
        </p:nvSpPr>
        <p:spPr>
          <a:xfrm>
            <a:off x="731520" y="4526280"/>
            <a:ext cx="4297680" cy="1325880"/>
          </a:xfrm>
          <a:prstGeom prst="roundRect">
            <a:avLst>
              <a:gd name="adj" fmla="val 8276"/>
            </a:avLst>
          </a:prstGeom>
          <a:solidFill>
            <a:schemeClr val="bg2"/>
          </a:solidFill>
          <a:ln/>
        </p:spPr>
      </p:sp>
      <p:sp>
        <p:nvSpPr>
          <p:cNvPr id="14" name="Deployment badge"/>
          <p:cNvSpPr/>
          <p:nvPr/>
        </p:nvSpPr>
        <p:spPr>
          <a:xfrm>
            <a:off x="960120" y="47548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Deployment icon" descr="Deploy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864608"/>
            <a:ext cx="237744" cy="237744"/>
          </a:xfrm>
          <a:prstGeom prst="rect">
            <a:avLst/>
          </a:prstGeom>
        </p:spPr>
      </p:pic>
      <p:sp>
        <p:nvSpPr>
          <p:cNvPr id="16" name="Deployment title"/>
          <p:cNvSpPr txBox="1"/>
          <p:nvPr/>
        </p:nvSpPr>
        <p:spPr>
          <a:xfrm>
            <a:off x="1600200" y="4754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Deployment</a:t>
            </a:r>
            <a:endParaRPr lang="en-US" sz="1800" dirty="0"/>
          </a:p>
        </p:txBody>
      </p:sp>
      <p:sp>
        <p:nvSpPr>
          <p:cNvPr id="17" name="Deployment text"/>
          <p:cNvSpPr txBox="1"/>
          <p:nvPr/>
        </p:nvSpPr>
        <p:spPr>
          <a:xfrm>
            <a:off x="1600200" y="514807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Served from LangSmith Deployment; a cron runs daily_scan every morning at 08:00.</a:t>
            </a:r>
            <a:endParaRPr lang="en-US" sz="1400" dirty="0"/>
          </a:p>
        </p:txBody>
      </p:sp>
      <p:graphicFrame>
        <p:nvGraphicFramePr>
          <p:cNvPr id="4" name="eval scor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508760"/>
          <a:ext cx="61264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5661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Passes when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trajectory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5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3 subagents run before score_and_rank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5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message and booking need approval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5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second scan suggests no repeated listing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price_drop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5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detected, reranked, Telegram sent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5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rate within 1% of mortgage_plan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grounded_answer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5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judge: answer sticks to tool results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checks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5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runs that pass every check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unapproved actions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4F5D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Actions run without approval (must be 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2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[__]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7C9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ckathon Minimal">
  <a:themeElements>
    <a:clrScheme name="Hackathon Minimal">
      <a:dk1>
        <a:srgbClr val="1C2B2A"/>
      </a:dk1>
      <a:lt1>
        <a:srgbClr val="FFFFFF"/>
      </a:lt1>
      <a:dk2>
        <a:srgbClr val="4F5D5B"/>
      </a:dk2>
      <a:lt2>
        <a:srgbClr val="EEF4F2"/>
      </a:lt2>
      <a:accent1>
        <a:srgbClr val="1F6F63"/>
      </a:accent1>
      <a:accent2>
        <a:srgbClr val="C8641E"/>
      </a:accent2>
      <a:accent3>
        <a:srgbClr val="8FB8AE"/>
      </a:accent3>
      <a:accent4>
        <a:srgbClr val="5E8C84"/>
      </a:accent4>
      <a:accent5>
        <a:srgbClr val="B7C9C5"/>
      </a:accent5>
      <a:accent6>
        <a:srgbClr val="2F4440"/>
      </a:accent6>
      <a:hlink>
        <a:srgbClr val="1F6F63"/>
      </a:hlink>
      <a:folHlink>
        <a:srgbClr val="5E8C84"/>
      </a:folHlink>
    </a:clrScheme>
    <a:fontScheme name="Hackathon Minimal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Munich Home-Buying Agent</dc:title>
  <dc:subject>PptxGenJS Presentation</dc:subject>
  <dc:creator>PptxGenJS</dc:creator>
  <cp:lastModifiedBy>PptxGenJS</cp:lastModifiedBy>
  <cp:revision>1</cp:revision>
  <dcterms:created xsi:type="dcterms:W3CDTF">2026-10-27T19:29:15Z</dcterms:created>
  <dcterms:modified xsi:type="dcterms:W3CDTF">2026-10-27T19:29:15Z</dcterms:modified>
</cp:coreProperties>
</file>